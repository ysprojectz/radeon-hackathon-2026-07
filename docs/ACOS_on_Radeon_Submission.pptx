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81"/>
  </p:normalViewPr>
  <p:slideViewPr>
    <p:cSldViewPr snapToGrid="0" snapToObjects="1">
      <p:cViewPr varScale="1">
        <p:scale>
          <a:sx n="122" d="100"/>
          <a:sy n="122" d="100"/>
        </p:scale>
        <p:origin x="224" y="2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0408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0109" y="1857554"/>
            <a:ext cx="1118300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dirty="0">
                <a:solidFill>
                  <a:srgbClr val="FFFFFF"/>
                </a:solidFill>
                <a:latin typeface="Arial"/>
              </a:rPr>
              <a:t>ACOS (Autonomous Claims Operating System) — Health Claims Arbiter</a:t>
            </a:r>
          </a:p>
          <a:p>
            <a:pPr algn="l"/>
            <a:r>
              <a:rPr sz="2000" b="0" dirty="0">
                <a:solidFill>
                  <a:srgbClr val="DBEAFE"/>
                </a:solidFill>
                <a:latin typeface="Arial"/>
              </a:rPr>
              <a:t>Sovereign AI adjudication for India's NHCX ecosystem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0109" y="46177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dirty="0">
                <a:solidFill>
                  <a:srgbClr val="DBEAFE"/>
                </a:solidFill>
                <a:latin typeface="Arial"/>
              </a:rPr>
              <a:t>Track 2 — Development &amp; Local Deployment of Private AI Agents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8259" y="51206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dirty="0">
                <a:solidFill>
                  <a:srgbClr val="DBEAFE"/>
                </a:solidFill>
                <a:latin typeface="Arial"/>
              </a:rPr>
              <a:t>Yuvaraj S (solo) · Chennai, India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0350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FDBFE"/>
                </a:solidFill>
                <a:latin typeface="Arial"/>
              </a:rPr>
              <a:t>AMD AI DevMaster Hackathon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4748B"/>
                </a:solidFill>
                <a:latin typeface="Arial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rial"/>
              </a:rPr>
              <a:t>India's claims mandate is a sovereignty problem, not just a speed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828800"/>
            <a:ext cx="107899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1800">
                <a:solidFill>
                  <a:srgbClr val="475569"/>
                </a:solidFill>
                <a:latin typeface="Arial"/>
              </a:rPr>
              <a:t>▪  India health insurance: USD 157.62B (2025) → USD 322.10B by 2034 (8.27% CAGR)</a:t>
            </a:r>
          </a:p>
          <a:p>
            <a:pPr>
              <a:spcAft>
                <a:spcPts val="1800"/>
              </a:spcAft>
            </a:pPr>
            <a:r>
              <a:rPr sz="1800">
                <a:solidFill>
                  <a:srgbClr val="475569"/>
                </a:solidFill>
                <a:latin typeface="Arial"/>
              </a:rPr>
              <a:t>▪  IRDAI's March 2026 mandate: cashless claims need final authorization within 3 hours of discharge — a window no manual claims desk can consistently meet</a:t>
            </a:r>
          </a:p>
          <a:p>
            <a:pPr>
              <a:spcAft>
                <a:spcPts val="1800"/>
              </a:spcAft>
            </a:pPr>
            <a:r>
              <a:rPr sz="1800">
                <a:solidFill>
                  <a:srgbClr val="475569"/>
                </a:solidFill>
                <a:latin typeface="Arial"/>
              </a:rPr>
              <a:t>▪  The obvious shortcut — bolting a cloud LLM onto NHCX — creates a contradiction: NHCX is an encrypted router that never reads patient data; a cloud API re-exports that same data to a foreign server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76072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Arial"/>
              </a:rPr>
              <a:t>Source: IRDAI Annual Reports FY2023-24/FY2024-25, NHA/NHCX documentation — see SPEC.md §1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rial"/>
              </a:rPr>
              <a:t>ACOS (Autonomous Claims Operating System) — Health Claims Arbiter — Track 2, Yuvaraj 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7395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Arial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4748B"/>
                </a:solidFill>
                <a:latin typeface="Arial"/>
              </a:rPr>
              <a:t>BEFORE THIS HACKATHON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rial"/>
              </a:rPr>
              <a:t>ACOS on AWS — a pre-existing personal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828800"/>
            <a:ext cx="107899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1800">
                <a:solidFill>
                  <a:srgbClr val="475569"/>
                </a:solidFill>
                <a:latin typeface="Arial"/>
              </a:rPr>
              <a:t>▪  Full claims pipeline: rules engine, dual-agent validator, HITL routing, settlement calc, NHCX/FHIR integration, RBAC/audit trail</a:t>
            </a:r>
          </a:p>
          <a:p>
            <a:pPr>
              <a:spcAft>
                <a:spcPts val="1800"/>
              </a:spcAft>
            </a:pPr>
            <a:r>
              <a:rPr sz="1800">
                <a:solidFill>
                  <a:srgbClr val="475569"/>
                </a:solidFill>
                <a:latin typeface="Arial"/>
              </a:rPr>
              <a:t>▪  Originally called Groq and Anthropic's cloud APIs for the AI reasoning layer</a:t>
            </a:r>
          </a:p>
          <a:p>
            <a:pPr>
              <a:spcAft>
                <a:spcPts val="1800"/>
              </a:spcAft>
            </a:pPr>
            <a:r>
              <a:rPr sz="1800">
                <a:solidFill>
                  <a:srgbClr val="475569"/>
                </a:solidFill>
                <a:latin typeface="Arial"/>
              </a:rPr>
              <a:t>▪  Solo-built, AWS/EKS-deployed as a self-directed learning exercise</a:t>
            </a:r>
          </a:p>
          <a:p>
            <a:pPr>
              <a:spcAft>
                <a:spcPts val="1800"/>
              </a:spcAft>
            </a:pPr>
            <a:r>
              <a:rPr sz="1800">
                <a:solidFill>
                  <a:srgbClr val="475569"/>
                </a:solidFill>
                <a:latin typeface="Arial"/>
              </a:rPr>
              <a:t>▪  Synthetic data throughout — never a commercial product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rial"/>
              </a:rPr>
              <a:t>ACOS (Autonomous Claims Operating System) — Health Claims Arbiter — Track 2, Yuvaraj 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7395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Arial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4748B"/>
                </a:solidFill>
                <a:latin typeface="Arial"/>
              </a:rPr>
              <a:t>THE HACKATHON DELTA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rial"/>
              </a:rPr>
              <a:t>What actually changed for this submission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828800"/>
            <a:ext cx="107899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1800">
                <a:solidFill>
                  <a:srgbClr val="475569"/>
                </a:solidFill>
                <a:latin typeface="Arial"/>
              </a:rPr>
              <a:t>▪  The entire AI intelligence layer moved from cloud APIs to one AMD Radeon GPU, served via vLLM</a:t>
            </a:r>
          </a:p>
          <a:p>
            <a:pPr>
              <a:spcAft>
                <a:spcPts val="1800"/>
              </a:spcAft>
            </a:pPr>
            <a:r>
              <a:rPr sz="1800">
                <a:solidFill>
                  <a:srgbClr val="475569"/>
                </a:solidFill>
                <a:latin typeface="Arial"/>
              </a:rPr>
              <a:t>▪  Both Agent B and Agent C now run locally — a genuine architectural change, not a wrapper</a:t>
            </a:r>
          </a:p>
          <a:p>
            <a:pPr>
              <a:spcAft>
                <a:spcPts val="1800"/>
              </a:spcAft>
            </a:pPr>
            <a:r>
              <a:rPr sz="1800">
                <a:solidFill>
                  <a:srgbClr val="475569"/>
                </a:solidFill>
                <a:latin typeface="Arial"/>
              </a:rPr>
              <a:t>▪  Fixed a real routing bug where Agent C silently fell back to cloud whenever Agent B was already local</a:t>
            </a:r>
          </a:p>
          <a:p>
            <a:pPr>
              <a:spcAft>
                <a:spcPts val="1800"/>
              </a:spcAft>
            </a:pPr>
            <a:r>
              <a:rPr sz="1800">
                <a:solidFill>
                  <a:srgbClr val="475569"/>
                </a:solidFill>
                <a:latin typeface="Arial"/>
              </a:rPr>
              <a:t>▪  Built genuine local tool-calling (function-calling) for all three tools — new for this hackathon, live-GPU verified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rial"/>
              </a:rPr>
              <a:t>ACOS (Autonomous Claims Operating System) — Health Claims Arbiter — Track 2, Yuvaraj 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7395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Arial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4748B"/>
                </a:solidFill>
                <a:latin typeface="Arial"/>
              </a:rPr>
              <a:t>AGENT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rial"/>
              </a:rPr>
              <a:t>Dual-agent cross-validation, both agents local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965960"/>
            <a:ext cx="210312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0F172A"/>
                </a:solidFill>
                <a:latin typeface="Arial"/>
              </a:rPr>
              <a:t>Claim Intake</a:t>
            </a:r>
          </a:p>
          <a:p>
            <a:pPr algn="ctr"/>
            <a:r>
              <a:rPr sz="1000">
                <a:solidFill>
                  <a:srgbClr val="475569"/>
                </a:solidFill>
                <a:latin typeface="Arial"/>
              </a:rPr>
              <a:t>JSON / OCR PDF / NHCX FHIR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71800" y="1965960"/>
            <a:ext cx="2286000" cy="9144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0F172A"/>
                </a:solidFill>
                <a:latin typeface="Arial"/>
              </a:rPr>
              <a:t>Agent A</a:t>
            </a:r>
          </a:p>
          <a:p>
            <a:pPr algn="ctr"/>
            <a:r>
              <a:rPr sz="1000">
                <a:solidFill>
                  <a:srgbClr val="475569"/>
                </a:solidFill>
                <a:latin typeface="Arial"/>
              </a:rPr>
              <a:t>Deterministic rules engine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23560" y="1965960"/>
            <a:ext cx="2377440" cy="41148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0F172A"/>
                </a:solidFill>
                <a:latin typeface="Arial"/>
              </a:rPr>
              <a:t>Agent B (primary)</a:t>
            </a:r>
          </a:p>
          <a:p>
            <a:pPr algn="ctr"/>
            <a:r>
              <a:rPr sz="1000">
                <a:solidFill>
                  <a:srgbClr val="475569"/>
                </a:solidFill>
                <a:latin typeface="Arial"/>
              </a:rPr>
              <a:t>Local LLM, port 8000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23560" y="2468880"/>
            <a:ext cx="2377440" cy="41148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0F172A"/>
                </a:solidFill>
                <a:latin typeface="Arial"/>
              </a:rPr>
              <a:t>Agent C (shadow)</a:t>
            </a:r>
          </a:p>
          <a:p>
            <a:pPr algn="ctr"/>
            <a:r>
              <a:rPr sz="1000">
                <a:solidFill>
                  <a:srgbClr val="475569"/>
                </a:solidFill>
                <a:latin typeface="Arial"/>
              </a:rPr>
              <a:t>Local LLM, port 8001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66760" y="1965960"/>
            <a:ext cx="182880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0F172A"/>
                </a:solidFill>
                <a:latin typeface="Arial"/>
              </a:rPr>
              <a:t>Agreement
Scoring</a:t>
            </a:r>
          </a:p>
          <a:p>
            <a:pPr algn="ctr"/>
            <a:r>
              <a:rPr sz="1000">
                <a:solidFill>
                  <a:srgbClr val="475569"/>
                </a:solidFill>
                <a:latin typeface="Arial"/>
              </a:rPr>
              <a:t>→ HITL routing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515600" y="1965960"/>
            <a:ext cx="146304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0F172A"/>
                </a:solidFill>
                <a:latin typeface="Arial"/>
              </a:rPr>
              <a:t>Settlement
+ Audit</a:t>
            </a:r>
          </a:p>
          <a:p>
            <a:pPr algn="ctr"/>
            <a:r>
              <a:rPr sz="1000">
                <a:solidFill>
                  <a:srgbClr val="475569"/>
                </a:solidFill>
                <a:latin typeface="Arial"/>
              </a:rPr>
              <a:t>Hash-chained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383280"/>
            <a:ext cx="107899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475569"/>
                </a:solidFill>
                <a:latin typeface="Arial"/>
              </a:rPr>
              <a:t>▪  Two separate vLLM instances, one Radeon GPU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475569"/>
                </a:solidFill>
                <a:latin typeface="Arial"/>
              </a:rPr>
              <a:t>▪  Two-tier prompt: IRDAI regulatory mandates (Tier 1) + company policy clauses (Tier 2, filtered ~35→~10 by relevance)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rial"/>
              </a:rPr>
              <a:t>ACOS (Autonomous Claims Operating System) — Health Claims Arbiter — Track 2, Yuvaraj 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47395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Arial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4748B"/>
                </a:solidFill>
                <a:latin typeface="Arial"/>
              </a:rPr>
              <a:t>FIVE CORE CAPABILITIES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rial"/>
              </a:rPr>
              <a:t>Rubric requires 2 of 5 — this project implements all 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828800"/>
          <a:ext cx="1078992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75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Capability</a:t>
                      </a:r>
                    </a:p>
                  </a:txBody>
                  <a:tcPr marL="109728" marR="109728" marT="54864" marB="54864"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L="109728" marR="109728" marT="54864" marB="54864" anchor="ctr"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F172A"/>
                          </a:solidFill>
                          <a:latin typeface="Arial"/>
                        </a:rPr>
                        <a:t>Multi-step task decomposition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F172A"/>
                          </a:solidFill>
                          <a:latin typeface="Arial"/>
                        </a:rPr>
                        <a:t>Verified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F172A"/>
                          </a:solidFill>
                          <a:latin typeface="Arial"/>
                        </a:rPr>
                        <a:t>Tool invocation</a:t>
                      </a:r>
                    </a:p>
                  </a:txBody>
                  <a:tcPr marL="109728" marR="109728" marT="54864" marB="5486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F172A"/>
                          </a:solidFill>
                          <a:latin typeface="Arial"/>
                        </a:rPr>
                        <a:t>Live-GPU verified</a:t>
                      </a:r>
                    </a:p>
                  </a:txBody>
                  <a:tcPr marL="109728" marR="109728" marT="54864" marB="54864"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F172A"/>
                          </a:solidFill>
                          <a:latin typeface="Arial"/>
                        </a:rPr>
                        <a:t>Local knowledge retrieval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F172A"/>
                          </a:solidFill>
                          <a:latin typeface="Arial"/>
                        </a:rPr>
                        <a:t>Verified — policy-grounded keyword retrieval, not vector RAG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F172A"/>
                          </a:solidFill>
                          <a:latin typeface="Arial"/>
                        </a:rPr>
                        <a:t>Multi-turn memory</a:t>
                      </a:r>
                    </a:p>
                  </a:txBody>
                  <a:tcPr marL="109728" marR="109728" marT="54864" marB="5486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F172A"/>
                          </a:solidFill>
                          <a:latin typeface="Arial"/>
                        </a:rPr>
                        <a:t>Verified</a:t>
                      </a:r>
                    </a:p>
                  </a:txBody>
                  <a:tcPr marL="109728" marR="109728" marT="54864" marB="54864"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F172A"/>
                          </a:solidFill>
                          <a:latin typeface="Arial"/>
                        </a:rPr>
                        <a:t>Permission control &amp; privacy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F172A"/>
                          </a:solidFill>
                          <a:latin typeface="Arial"/>
                        </a:rPr>
                        <a:t>Verified — RBAC, JWT, SHA-256 audit hash-chain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rial"/>
              </a:rPr>
              <a:t>ACOS (Autonomous Claims Operating System) — Health Claims Arbiter — Track 2, Yuvaraj 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7395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Arial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4748B"/>
                </a:solidFill>
                <a:latin typeface="Arial"/>
              </a:rPr>
              <a:t>AMD OPTIMIZATION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rial"/>
              </a:rPr>
              <a:t>Real benchmark numbers, live GPU session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783080"/>
          <a:ext cx="10789919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756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756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665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816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Model</a:t>
                      </a:r>
                    </a:p>
                  </a:txBody>
                  <a:tcPr marL="109728" marR="109728" marT="54864" marB="54864"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Concurrency 1</a:t>
                      </a:r>
                    </a:p>
                  </a:txBody>
                  <a:tcPr marL="109728" marR="109728" marT="54864" marB="54864"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Concurrency 4</a:t>
                      </a:r>
                    </a:p>
                  </a:txBody>
                  <a:tcPr marL="109728" marR="109728" marT="54864" marB="54864"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Concurrency 8</a:t>
                      </a:r>
                    </a:p>
                  </a:txBody>
                  <a:tcPr marL="109728" marR="109728" marT="54864" marB="54864" anchor="ctr"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F172A"/>
                          </a:solidFill>
                          <a:latin typeface="Arial"/>
                        </a:rPr>
                        <a:t>Agent B (14B, Qwen2.5-Instruct-AWQ)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F172A"/>
                          </a:solidFill>
                          <a:latin typeface="Arial"/>
                        </a:rPr>
                        <a:t>8.7 tok/s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F172A"/>
                          </a:solidFill>
                          <a:latin typeface="Arial"/>
                        </a:rPr>
                        <a:t>25.94 tok/s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F172A"/>
                          </a:solidFill>
                          <a:latin typeface="Arial"/>
                        </a:rPr>
                        <a:t>51.68 tok/s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F172A"/>
                          </a:solidFill>
                          <a:latin typeface="Arial"/>
                        </a:rPr>
                        <a:t>Agent C (7B, Qwen2.5-Instruct-AWQ)</a:t>
                      </a:r>
                    </a:p>
                  </a:txBody>
                  <a:tcPr marL="109728" marR="109728" marT="54864" marB="5486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F172A"/>
                          </a:solidFill>
                          <a:latin typeface="Arial"/>
                        </a:rPr>
                        <a:t>15.34 tok/s</a:t>
                      </a:r>
                    </a:p>
                  </a:txBody>
                  <a:tcPr marL="109728" marR="109728" marT="54864" marB="5486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F172A"/>
                          </a:solidFill>
                          <a:latin typeface="Arial"/>
                        </a:rPr>
                        <a:t>46.05 tok/s</a:t>
                      </a:r>
                    </a:p>
                  </a:txBody>
                  <a:tcPr marL="109728" marR="109728" marT="54864" marB="5486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F172A"/>
                          </a:solidFill>
                          <a:latin typeface="Arial"/>
                        </a:rPr>
                        <a:t>91.01 tok/s</a:t>
                      </a:r>
                    </a:p>
                  </a:txBody>
                  <a:tcPr marL="109728" marR="109728" marT="54864" marB="54864"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3657600"/>
            <a:ext cx="10789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500">
                <a:solidFill>
                  <a:srgbClr val="475569"/>
                </a:solidFill>
                <a:latin typeface="Arial"/>
              </a:rPr>
              <a:t>▪  vLLM continuous batching: ~6x aggregate throughput at concurrency 8 vs. concurrency 1, zero code changes</a:t>
            </a:r>
          </a:p>
          <a:p>
            <a:pPr>
              <a:spcAft>
                <a:spcPts val="1400"/>
              </a:spcAft>
            </a:pPr>
            <a:r>
              <a:rPr sz="1500">
                <a:solidFill>
                  <a:srgbClr val="475569"/>
                </a:solidFill>
                <a:latin typeface="Arial"/>
              </a:rPr>
              <a:t>▪  Phase 3 sweep (Agent B solo): raising --gpu-memory-utilization 0.45→0.85 gives +9% throughput; --max-num-seqs made no measurable difference — an honest finding, not oversold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94360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Arial"/>
              </a:rPr>
              <a:t>Reproducible: python3 bench/benchmark.py — results in bench/results/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rial"/>
              </a:rPr>
              <a:t>ACOS (Autonomous Claims Operating System) — Health Claims Arbiter — Track 2, Yuvaraj 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47395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Arial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4748B"/>
                </a:solidFill>
                <a:latin typeface="Arial"/>
              </a:rPr>
              <a:t>BONUS CRITERION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rial"/>
              </a:rPr>
              <a:t>Radeon Cloud Model 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828800"/>
            <a:ext cx="107899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1800">
                <a:solidFill>
                  <a:srgbClr val="475569"/>
                </a:solidFill>
                <a:latin typeface="Arial"/>
              </a:rPr>
              <a:t>▪  Agent B deployed as a dedicated Radeon Cloud vLLM Model API endpoint (Deploy Type = vLLM Model API)</a:t>
            </a:r>
          </a:p>
          <a:p>
            <a:pPr>
              <a:spcAft>
                <a:spcPts val="1800"/>
              </a:spcAft>
            </a:pPr>
            <a:r>
              <a:rPr sz="1800">
                <a:solidFill>
                  <a:srgbClr val="475569"/>
                </a:solidFill>
                <a:latin typeface="Arial"/>
              </a:rPr>
              <a:t>▪  AWQ 4-bit quantization — serves the OpenAI-compatible completions interface directly from Radeon Cloud infrastructure</a:t>
            </a:r>
          </a:p>
          <a:p>
            <a:pPr>
              <a:spcAft>
                <a:spcPts val="1800"/>
              </a:spcAft>
            </a:pPr>
            <a:r>
              <a:rPr sz="1800">
                <a:solidFill>
                  <a:srgbClr val="475569"/>
                </a:solidFill>
                <a:latin typeface="Arial"/>
              </a:rPr>
              <a:t>▪  Satisfies the bonus criterion: core inference via Radeon Cloud model API with quantization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rial"/>
              </a:rPr>
              <a:t>ACOS (Autonomous Claims Operating System) — Health Claims Arbiter — Track 2, Yuvaraj 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7395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Arial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4748B"/>
                </a:solidFill>
                <a:latin typeface="Arial"/>
              </a:rPr>
              <a:t>EVIDENCE &amp; REPRODUCIBILITY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Arial"/>
              </a:rPr>
              <a:t>Every number in this deck traces to a reproducible script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828800"/>
            <a:ext cx="107899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600">
                <a:solidFill>
                  <a:srgbClr val="475569"/>
                </a:solidFill>
                <a:latin typeface="Arial"/>
              </a:rPr>
              <a:t>▪  One-command bring-up: bash deploy/radeon/bootstrap_instance.sh --agent-c --tools</a:t>
            </a:r>
          </a:p>
          <a:p>
            <a:pPr>
              <a:spcAft>
                <a:spcPts val="1600"/>
              </a:spcAft>
            </a:pPr>
            <a:r>
              <a:rPr sz="1600">
                <a:solidFill>
                  <a:srgbClr val="475569"/>
                </a:solidFill>
                <a:latin typeface="Arial"/>
              </a:rPr>
              <a:t>▪  CI runs the eval suite on every push (.github/workflows/hackathon-eval-suite.yml)</a:t>
            </a:r>
          </a:p>
          <a:p>
            <a:pPr>
              <a:spcAft>
                <a:spcPts val="1600"/>
              </a:spcAft>
            </a:pPr>
            <a:r>
              <a:rPr sz="1600">
                <a:solidFill>
                  <a:srgbClr val="475569"/>
                </a:solidFill>
                <a:latin typeface="Arial"/>
              </a:rPr>
              <a:t>▪  Genuine dual-agent proof: server-side vLLM request-log counts — grep -c 'POST /v1/chat/completions' — not application logs, which can be misleading</a:t>
            </a:r>
          </a:p>
          <a:p>
            <a:pPr>
              <a:spcAft>
                <a:spcPts val="1600"/>
              </a:spcAft>
            </a:pPr>
            <a:r>
              <a:rPr sz="1600">
                <a:solidFill>
                  <a:srgbClr val="475569"/>
                </a:solidFill>
                <a:latin typeface="Arial"/>
              </a:rPr>
              <a:t>▪  51/51 core regression tests passing; full suite 430 passed / 1 failed / 17 errors, all expected without a live server running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rial"/>
              </a:rPr>
              <a:t>ACOS (Autonomous Claims Operating System) — Health Claims Arbiter — Track 2, Yuvaraj 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7395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Arial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4748B"/>
                </a:solidFill>
                <a:latin typeface="Arial"/>
              </a:rPr>
              <a:t>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rial"/>
              </a:rPr>
              <a:t>Why this matters beyond the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783080"/>
            <a:ext cx="107899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700">
                <a:solidFill>
                  <a:srgbClr val="475569"/>
                </a:solidFill>
                <a:latin typeface="Arial"/>
              </a:rPr>
              <a:t>▪  District-hospital economics: one Radeon GPU card vs. recurring cloud-API billing per claim — sovereignty and cost both favor on-prem</a:t>
            </a:r>
          </a:p>
          <a:p>
            <a:pPr>
              <a:spcAft>
                <a:spcPts val="1600"/>
              </a:spcAft>
            </a:pPr>
            <a:r>
              <a:rPr sz="1700">
                <a:solidFill>
                  <a:srgbClr val="475569"/>
                </a:solidFill>
                <a:latin typeface="Arial"/>
              </a:rPr>
              <a:t>▪  NHCX roadmap fit: as more hospitals digitize under NHCX, the sovereignty argument scales with the mandate, not against it</a:t>
            </a:r>
          </a:p>
          <a:p>
            <a:pPr>
              <a:spcAft>
                <a:spcPts val="1600"/>
              </a:spcAft>
            </a:pPr>
            <a:r>
              <a:rPr sz="1700">
                <a:solidFill>
                  <a:srgbClr val="475569"/>
                </a:solidFill>
                <a:latin typeface="Arial"/>
              </a:rPr>
              <a:t>▪  Scope discipline, stated honestly: ACOS is the adjudication and decision layer — it does not do payment execution, policy issuance, or premium collection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29200"/>
            <a:ext cx="10789920" cy="109728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i="1">
                <a:solidFill>
                  <a:srgbClr val="FFFFFF"/>
                </a:solidFill>
                <a:latin typeface="Arial"/>
              </a:rPr>
              <a:t>One affordable Radeon GPU. Dual-agent adjudication. Patient data never leaves the building.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rial"/>
              </a:rPr>
              <a:t>ACOS (Autonomous Claims Operating System) — Health Claims Arbiter — Track 2, Yuvaraj 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7395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1002</Words>
  <Application>Microsoft Macintosh PowerPoint</Application>
  <PresentationFormat>Widescreen</PresentationFormat>
  <Paragraphs>105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Yuvaraj _유바 라즈 S</cp:lastModifiedBy>
  <cp:revision>2</cp:revision>
  <dcterms:created xsi:type="dcterms:W3CDTF">2013-01-27T09:14:16Z</dcterms:created>
  <dcterms:modified xsi:type="dcterms:W3CDTF">2026-08-04T03:55:41Z</dcterms:modified>
  <cp:category/>
</cp:coreProperties>
</file>